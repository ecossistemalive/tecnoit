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7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5A059"/>
          </a:solidFill>
          <a:ln w="12700">
            <a:solidFill>
              <a:srgbClr val="C5A05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5A059"/>
          </a:solidFill>
          <a:ln w="12700">
            <a:solidFill>
              <a:srgbClr val="C5A05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" y="1097280"/>
            <a:ext cx="9034272" cy="2926080"/>
          </a:xfrm>
          <a:prstGeom prst="rect">
            <a:avLst/>
          </a:prstGeom>
          <a:solidFill>
            <a:srgbClr val="0A0C1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34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C5A059"/>
                </a:solidFill>
              </a:rPr>
              <a:t>ECOSSISTEMA LIVE ·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Portfólio de Produtos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57200" y="2560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E2C8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ViDi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B95A1"/>
                </a:solidFill>
              </a:rPr>
              <a:t>Ferramental · Resultado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3931920"/>
            <a:ext cx="2743200" cy="22860"/>
          </a:xfrm>
          <a:prstGeom prst="rect">
            <a:avLst/>
          </a:prstGeom>
          <a:solidFill>
            <a:srgbClr val="C5A059"/>
          </a:solidFill>
          <a:ln w="12700">
            <a:solidFill>
              <a:srgbClr val="C5A05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069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5A1"/>
                </a:solidFill>
              </a:rPr>
              <a:t>Luiz Portal  ·  Ibrahim Boufleur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7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5A059"/>
          </a:solidFill>
          <a:ln w="12700">
            <a:solidFill>
              <a:srgbClr val="C5A05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C5A059"/>
                </a:solidFill>
              </a:rPr>
              <a:t>PORTFÓLIO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3931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Visão Geral dos Produtos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4023360" cy="3840480"/>
          </a:xfrm>
          <a:prstGeom prst="rect">
            <a:avLst/>
          </a:prstGeom>
          <a:solidFill>
            <a:srgbClr val="0D1117"/>
          </a:solidFill>
          <a:ln w="12700">
            <a:solidFill>
              <a:srgbClr val="1E253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78992"/>
            <a:ext cx="54864" cy="3840480"/>
          </a:xfrm>
          <a:prstGeom prst="rect">
            <a:avLst/>
          </a:prstGeom>
          <a:solidFill>
            <a:srgbClr val="C5A059"/>
          </a:solidFill>
          <a:ln w="12700">
            <a:solidFill>
              <a:srgbClr val="C5A05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887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05840" y="115214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2C882"/>
                </a:solidFill>
              </a:rPr>
              <a:t>Bot Júlio vende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1426464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1"/>
                </a:solidFill>
              </a:rPr>
              <a:t>Automático — sem time comercial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02920" y="1700784"/>
            <a:ext cx="3566160" cy="20117"/>
          </a:xfrm>
          <a:prstGeom prst="rect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792224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F59E0B"/>
                </a:solidFill>
              </a:rPr>
              <a:t>DURANTE O EVENTO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548640" y="2029968"/>
            <a:ext cx="100584" cy="1005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198424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VIP Pass  (R$ 998)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2377440"/>
            <a:ext cx="100584" cy="1005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233172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Cúpula Dinner  (R$ 8.998)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2724912"/>
            <a:ext cx="100584" cy="1005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267919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Pacote Sócio  (R$ 749/sócio)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3072384"/>
            <a:ext cx="100584" cy="1005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302666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Diagnóstico Catalyst  (R$ 248)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" y="3401568"/>
            <a:ext cx="3566160" cy="20117"/>
          </a:xfrm>
          <a:prstGeom prst="rect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493008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E2C882"/>
                </a:solidFill>
              </a:rPr>
              <a:t>PÓS-EVENTO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548640" y="3730752"/>
            <a:ext cx="100584" cy="100584"/>
          </a:xfrm>
          <a:prstGeom prst="ellipse">
            <a:avLst/>
          </a:prstGeom>
          <a:solidFill>
            <a:srgbClr val="E2C882"/>
          </a:solidFill>
          <a:ln w="12700">
            <a:solidFill>
              <a:srgbClr val="E2C88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9808" y="368503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Mentorias (Individual · Grupo)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4050792"/>
            <a:ext cx="100584" cy="100584"/>
          </a:xfrm>
          <a:prstGeom prst="ellipse">
            <a:avLst/>
          </a:prstGeom>
          <a:solidFill>
            <a:srgbClr val="E2C882"/>
          </a:solidFill>
          <a:ln w="12700">
            <a:solidFill>
              <a:srgbClr val="E2C88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9808" y="400507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Almoço com o CEO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8640" y="4370832"/>
            <a:ext cx="100584" cy="100584"/>
          </a:xfrm>
          <a:prstGeom prst="ellipse">
            <a:avLst/>
          </a:prstGeom>
          <a:solidFill>
            <a:srgbClr val="E2C882"/>
          </a:solidFill>
          <a:ln w="12700">
            <a:solidFill>
              <a:srgbClr val="E2C88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9808" y="432511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Novos eventos e imersões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09160" y="1078992"/>
            <a:ext cx="4023360" cy="3840480"/>
          </a:xfrm>
          <a:prstGeom prst="rect">
            <a:avLst/>
          </a:prstGeom>
          <a:solidFill>
            <a:srgbClr val="0D1117"/>
          </a:solidFill>
          <a:ln w="12700">
            <a:solidFill>
              <a:srgbClr val="1E253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09160" y="1078992"/>
            <a:ext cx="54864" cy="3840480"/>
          </a:xfrm>
          <a:prstGeom prst="rect">
            <a:avLst/>
          </a:prstGeom>
          <a:solidFill>
            <a:srgbClr val="E2C882"/>
          </a:solidFill>
          <a:ln w="12700">
            <a:solidFill>
              <a:srgbClr val="E2C88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92040" y="11887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🤝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5394960" y="115214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2C882"/>
                </a:solidFill>
              </a:rPr>
              <a:t>Time Comercial fecha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394960" y="1426464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1"/>
                </a:solidFill>
              </a:rPr>
              <a:t>Alto ticket · reuniões privadas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828032" y="1865376"/>
            <a:ext cx="100584" cy="100584"/>
          </a:xfrm>
          <a:prstGeom prst="ellipse">
            <a:avLst/>
          </a:prstGeom>
          <a:solidFill>
            <a:srgbClr val="E2C882"/>
          </a:solidFill>
          <a:ln w="12700">
            <a:solidFill>
              <a:srgbClr val="E2C88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0" y="181965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Cúpula CEO — ingresso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828032" y="2212848"/>
            <a:ext cx="100584" cy="100584"/>
          </a:xfrm>
          <a:prstGeom prst="ellipse">
            <a:avLst/>
          </a:prstGeom>
          <a:solidFill>
            <a:srgbClr val="E2C882"/>
          </a:solidFill>
          <a:ln w="12700">
            <a:solidFill>
              <a:srgbClr val="E2C88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0" y="216712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Formação do Líder (digital)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828032" y="2560320"/>
            <a:ext cx="100584" cy="100584"/>
          </a:xfrm>
          <a:prstGeom prst="ellipse">
            <a:avLst/>
          </a:prstGeom>
          <a:solidFill>
            <a:srgbClr val="E2C882"/>
          </a:solidFill>
          <a:ln w="12700">
            <a:solidFill>
              <a:srgbClr val="E2C88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0" y="25146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Formação do CEO (digital)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828032" y="2907792"/>
            <a:ext cx="100584" cy="100584"/>
          </a:xfrm>
          <a:prstGeom prst="ellipse">
            <a:avLst/>
          </a:prstGeom>
          <a:solidFill>
            <a:srgbClr val="E2C882"/>
          </a:solidFill>
          <a:ln w="12700">
            <a:solidFill>
              <a:srgbClr val="E2C88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29200" y="286207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Consultoria ViDi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828032" y="3255264"/>
            <a:ext cx="100584" cy="100584"/>
          </a:xfrm>
          <a:prstGeom prst="ellipse">
            <a:avLst/>
          </a:prstGeom>
          <a:solidFill>
            <a:srgbClr val="E2C882"/>
          </a:solidFill>
          <a:ln w="12700">
            <a:solidFill>
              <a:srgbClr val="E2C88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29200" y="320954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Formações Presenciais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828032" y="3602736"/>
            <a:ext cx="100584" cy="100584"/>
          </a:xfrm>
          <a:prstGeom prst="ellipse">
            <a:avLst/>
          </a:prstGeom>
          <a:solidFill>
            <a:srgbClr val="E2C882"/>
          </a:solidFill>
          <a:ln w="12700">
            <a:solidFill>
              <a:srgbClr val="E2C88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29200" y="355701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Imersões Estruturadas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4828032" y="3950208"/>
            <a:ext cx="100584" cy="100584"/>
          </a:xfrm>
          <a:prstGeom prst="ellipse">
            <a:avLst/>
          </a:prstGeom>
          <a:solidFill>
            <a:srgbClr val="E2C882"/>
          </a:solidFill>
          <a:ln w="12700">
            <a:solidFill>
              <a:srgbClr val="E2C88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029200" y="390448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Experiências Exclusivas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4828032" y="4297680"/>
            <a:ext cx="100584" cy="100584"/>
          </a:xfrm>
          <a:prstGeom prst="ellipse">
            <a:avLst/>
          </a:prstGeom>
          <a:solidFill>
            <a:srgbClr val="E2C882"/>
          </a:solidFill>
          <a:ln w="12700">
            <a:solidFill>
              <a:srgbClr val="E2C88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029200" y="42519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Diagnóstico Catalyst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320040" y="4709160"/>
            <a:ext cx="8412480" cy="256032"/>
          </a:xfrm>
          <a:prstGeom prst="rect">
            <a:avLst/>
          </a:prstGeom>
          <a:solidFill>
            <a:srgbClr val="1A1200"/>
          </a:solidFill>
          <a:ln w="12700">
            <a:solidFill>
              <a:srgbClr val="C5A059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7200" y="4736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5A059"/>
                </a:solidFill>
              </a:rPr>
              <a:t>🔒  Valores compartilhados exclusivamente em reuniões comerciais privadas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7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5A059"/>
          </a:solidFill>
          <a:ln w="12700">
            <a:solidFill>
              <a:srgbClr val="C5A05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C5A059"/>
                </a:solidFill>
              </a:rPr>
              <a:t>TRILHA ONLINE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3931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Produtos Digitais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8961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95A1"/>
                </a:solidFill>
              </a:rPr>
              <a:t>Cursos online disponíveis · comercializados pelo time comercial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371600"/>
            <a:ext cx="4023360" cy="3383280"/>
          </a:xfrm>
          <a:prstGeom prst="rect">
            <a:avLst/>
          </a:prstGeom>
          <a:solidFill>
            <a:srgbClr val="0D1117"/>
          </a:solidFill>
          <a:ln w="12700">
            <a:solidFill>
              <a:srgbClr val="1E253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371600"/>
            <a:ext cx="54864" cy="3383280"/>
          </a:xfrm>
          <a:prstGeom prst="rect">
            <a:avLst/>
          </a:prstGeom>
          <a:solidFill>
            <a:srgbClr val="C5A059"/>
          </a:solidFill>
          <a:ln w="12700">
            <a:solidFill>
              <a:srgbClr val="C5A05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48132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🎓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280160" y="148132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C882"/>
                </a:solidFill>
              </a:rPr>
              <a:t>Formação do Líder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2920" y="190195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R$ 698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502920" y="2331720"/>
            <a:ext cx="3566160" cy="20117"/>
          </a:xfrm>
          <a:prstGeom prst="rect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" y="2450592"/>
            <a:ext cx="100584" cy="100584"/>
          </a:xfrm>
          <a:prstGeom prst="ellipse">
            <a:avLst/>
          </a:prstGeom>
          <a:solidFill>
            <a:srgbClr val="C5A059"/>
          </a:solidFill>
          <a:ln w="12700">
            <a:solidFill>
              <a:srgbClr val="C5A05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42316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Trilha completa de liderança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4360" y="2834640"/>
            <a:ext cx="100584" cy="100584"/>
          </a:xfrm>
          <a:prstGeom prst="ellipse">
            <a:avLst/>
          </a:prstGeom>
          <a:solidFill>
            <a:srgbClr val="C5A059"/>
          </a:solidFill>
          <a:ln w="12700">
            <a:solidFill>
              <a:srgbClr val="C5A05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280720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Para gestores e empresários em início de jornada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94360" y="3218688"/>
            <a:ext cx="100584" cy="100584"/>
          </a:xfrm>
          <a:prstGeom prst="ellipse">
            <a:avLst/>
          </a:prstGeom>
          <a:solidFill>
            <a:srgbClr val="C5A059"/>
          </a:solidFill>
          <a:ln w="12700">
            <a:solidFill>
              <a:srgbClr val="C5A05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19125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Cultura de alta performance e resiliência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94360" y="3602736"/>
            <a:ext cx="100584" cy="100584"/>
          </a:xfrm>
          <a:prstGeom prst="ellipse">
            <a:avLst/>
          </a:prstGeom>
          <a:solidFill>
            <a:srgbClr val="C5A059"/>
          </a:solidFill>
          <a:ln w="12700">
            <a:solidFill>
              <a:srgbClr val="C5A05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357530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Conteúdo prático e aplicável ao dia a dia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94360" y="3986784"/>
            <a:ext cx="100584" cy="100584"/>
          </a:xfrm>
          <a:prstGeom prst="ellipse">
            <a:avLst/>
          </a:prstGeom>
          <a:solidFill>
            <a:srgbClr val="C5A059"/>
          </a:solidFill>
          <a:ln w="12700">
            <a:solidFill>
              <a:srgbClr val="C5A05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395935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Acesso digital · plataforma online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94360" y="4434840"/>
            <a:ext cx="1554480" cy="237744"/>
          </a:xfrm>
          <a:prstGeom prst="roundRect">
            <a:avLst>
              <a:gd name="adj" fmla="val 38462"/>
            </a:avLst>
          </a:prstGeom>
          <a:solidFill>
            <a:srgbClr val="2A2010"/>
          </a:solidFill>
          <a:ln w="12700">
            <a:solidFill>
              <a:srgbClr val="2A201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443484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2C882"/>
                </a:solidFill>
              </a:rPr>
              <a:t>LIDERANÇA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709160" y="1371600"/>
            <a:ext cx="4023360" cy="3383280"/>
          </a:xfrm>
          <a:prstGeom prst="rect">
            <a:avLst/>
          </a:prstGeom>
          <a:solidFill>
            <a:srgbClr val="0D1117"/>
          </a:solidFill>
          <a:ln w="12700">
            <a:solidFill>
              <a:srgbClr val="1E253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1371600"/>
            <a:ext cx="54864" cy="3383280"/>
          </a:xfrm>
          <a:prstGeom prst="rect">
            <a:avLst/>
          </a:prstGeom>
          <a:solidFill>
            <a:srgbClr val="C5A059"/>
          </a:solidFill>
          <a:ln w="12700">
            <a:solidFill>
              <a:srgbClr val="C5A05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83480" y="148132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🏢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5669280" y="148132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C882"/>
                </a:solidFill>
              </a:rPr>
              <a:t>Formação do CEO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892040" y="190195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R$ 698</a:t>
            </a:r>
            <a:endParaRPr lang="en-US" sz="2400" dirty="0"/>
          </a:p>
        </p:txBody>
      </p:sp>
      <p:sp>
        <p:nvSpPr>
          <p:cNvPr id="29" name="Shape 27"/>
          <p:cNvSpPr/>
          <p:nvPr/>
        </p:nvSpPr>
        <p:spPr>
          <a:xfrm>
            <a:off x="4892040" y="2331720"/>
            <a:ext cx="3566160" cy="20117"/>
          </a:xfrm>
          <a:prstGeom prst="rect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983480" y="2450592"/>
            <a:ext cx="100584" cy="100584"/>
          </a:xfrm>
          <a:prstGeom prst="ellipse">
            <a:avLst/>
          </a:prstGeom>
          <a:solidFill>
            <a:srgbClr val="E2C882"/>
          </a:solidFill>
          <a:ln w="12700">
            <a:solidFill>
              <a:srgbClr val="E2C88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93792" y="24231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Trilha CEO completa · governança e escala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983480" y="2834640"/>
            <a:ext cx="100584" cy="100584"/>
          </a:xfrm>
          <a:prstGeom prst="ellipse">
            <a:avLst/>
          </a:prstGeom>
          <a:solidFill>
            <a:srgbClr val="E2C882"/>
          </a:solidFill>
          <a:ln w="12700">
            <a:solidFill>
              <a:srgbClr val="E2C88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93792" y="280720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Para fundadores, CEOs e quem quer se tornar CEO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983480" y="3218688"/>
            <a:ext cx="100584" cy="100584"/>
          </a:xfrm>
          <a:prstGeom prst="ellipse">
            <a:avLst/>
          </a:prstGeom>
          <a:solidFill>
            <a:srgbClr val="E2C882"/>
          </a:solidFill>
          <a:ln w="12700">
            <a:solidFill>
              <a:srgbClr val="E2C88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93792" y="319125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Visão estratégica, estruturação e liderança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983480" y="3602736"/>
            <a:ext cx="100584" cy="100584"/>
          </a:xfrm>
          <a:prstGeom prst="ellipse">
            <a:avLst/>
          </a:prstGeom>
          <a:solidFill>
            <a:srgbClr val="E2C882"/>
          </a:solidFill>
          <a:ln w="12700">
            <a:solidFill>
              <a:srgbClr val="E2C88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93792" y="357530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Acesso digital · plataforma online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983480" y="3986784"/>
            <a:ext cx="100584" cy="1005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93792" y="39593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</a:rPr>
              <a:t>⚙ Automação de resgate de lead perdido da Cúpula CEO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892040" y="4434840"/>
            <a:ext cx="1554480" cy="237744"/>
          </a:xfrm>
          <a:prstGeom prst="roundRect">
            <a:avLst>
              <a:gd name="adj" fmla="val 38462"/>
            </a:avLst>
          </a:prstGeom>
          <a:solidFill>
            <a:srgbClr val="2A2010"/>
          </a:solidFill>
          <a:ln w="12700">
            <a:solidFill>
              <a:srgbClr val="2A201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92040" y="443484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2C882"/>
                </a:solidFill>
              </a:rPr>
              <a:t>TRILHA CEO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7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5A059"/>
          </a:solidFill>
          <a:ln w="12700">
            <a:solidFill>
              <a:srgbClr val="C5A05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C5A059"/>
                </a:solidFill>
              </a:rPr>
              <a:t>EVENTO PRESENCIAL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3931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Cúpula CEO 2026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8412480" cy="1371600"/>
          </a:xfrm>
          <a:prstGeom prst="rect">
            <a:avLst/>
          </a:prstGeom>
          <a:solidFill>
            <a:srgbClr val="0D1117"/>
          </a:solidFill>
          <a:ln w="12700">
            <a:solidFill>
              <a:srgbClr val="1E253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24128"/>
            <a:ext cx="54864" cy="1371600"/>
          </a:xfrm>
          <a:prstGeom prst="rect">
            <a:avLst/>
          </a:prstGeom>
          <a:solidFill>
            <a:srgbClr val="C5A059"/>
          </a:solidFill>
          <a:ln w="12700">
            <a:solidFill>
              <a:srgbClr val="C5A05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11556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C882"/>
                </a:solidFill>
              </a:rPr>
              <a:t>📍 Royal Tulip · Brasília  ·  Imersão de 1 dia  ·  Networking qualificado  ·  Conteúdo prático para C-Levels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417320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5A1"/>
                </a:solidFill>
              </a:rPr>
              <a:t>Público-alvo: CEOs, CFOs, Fundadores, Diretores · Empresas com faturamento de R$ 1M a R$ 50M+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1673352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5A1"/>
                </a:solidFill>
              </a:rPr>
              <a:t>Canal de entrada: Google Ads · Meta Ads · Lives de aquecimento · Almoço com o CEO · Indicações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" y="2578608"/>
            <a:ext cx="2697480" cy="2359152"/>
          </a:xfrm>
          <a:prstGeom prst="rect">
            <a:avLst/>
          </a:prstGeom>
          <a:solidFill>
            <a:srgbClr val="0D1117"/>
          </a:solidFill>
          <a:ln w="12700">
            <a:solidFill>
              <a:srgbClr val="1E253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2578608"/>
            <a:ext cx="54864" cy="2359152"/>
          </a:xfrm>
          <a:prstGeom prst="rect">
            <a:avLst/>
          </a:prstGeom>
          <a:solidFill>
            <a:srgbClr val="C5A059"/>
          </a:solidFill>
          <a:ln w="12700">
            <a:solidFill>
              <a:srgbClr val="C5A05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" y="267919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🎫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05840" y="270662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5A059"/>
                </a:solidFill>
              </a:rPr>
              <a:t>Ingresso Standard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4632" y="301752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R$ 1.497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484632" y="3419856"/>
            <a:ext cx="2331720" cy="20117"/>
          </a:xfrm>
          <a:prstGeom prst="rect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" y="347472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5A1"/>
                </a:solidFill>
              </a:rPr>
              <a:t>Acesso completo ao evento presencial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B95A1"/>
                </a:solidFill>
              </a:rPr>
              <a:t>Palestras · Painéis · Networking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B95A1"/>
                </a:solidFill>
              </a:rPr>
              <a:t>Dia inteiro no Royal Tulip · Brasília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84632" y="4663440"/>
            <a:ext cx="1554480" cy="237744"/>
          </a:xfrm>
          <a:prstGeom prst="roundRect">
            <a:avLst>
              <a:gd name="adj" fmla="val 38462"/>
            </a:avLst>
          </a:prstGeom>
          <a:solidFill>
            <a:srgbClr val="2A2010"/>
          </a:solidFill>
          <a:ln w="12700">
            <a:solidFill>
              <a:srgbClr val="2A201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" y="466344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5A059"/>
                </a:solidFill>
              </a:rPr>
              <a:t>ENTRADA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172968" y="2578608"/>
            <a:ext cx="2697480" cy="2359152"/>
          </a:xfrm>
          <a:prstGeom prst="rect">
            <a:avLst/>
          </a:prstGeom>
          <a:solidFill>
            <a:srgbClr val="0D1117"/>
          </a:solidFill>
          <a:ln w="12700">
            <a:solidFill>
              <a:srgbClr val="1E253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172968" y="2578608"/>
            <a:ext cx="54864" cy="2359152"/>
          </a:xfrm>
          <a:prstGeom prst="rect">
            <a:avLst/>
          </a:prstGeom>
          <a:solidFill>
            <a:srgbClr val="E2C882"/>
          </a:solidFill>
          <a:ln w="12700">
            <a:solidFill>
              <a:srgbClr val="E2C88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37560" y="267919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⭐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858768" y="270662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C882"/>
                </a:solidFill>
              </a:rPr>
              <a:t>VIP Pass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337560" y="301752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R$ 998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3337560" y="3419856"/>
            <a:ext cx="2331720" cy="20117"/>
          </a:xfrm>
          <a:prstGeom prst="rect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37560" y="347472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5A1"/>
                </a:solidFill>
              </a:rPr>
              <a:t>Tudo do Standard +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B95A1"/>
                </a:solidFill>
              </a:rPr>
              <a:t>Assentos prioritários · Acesso exclusivo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B95A1"/>
                </a:solidFill>
              </a:rPr>
              <a:t>Almoço com os palestrantes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B95A1"/>
                </a:solidFill>
              </a:rPr>
              <a:t>Traslado em lancha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337560" y="4663440"/>
            <a:ext cx="1554480" cy="237744"/>
          </a:xfrm>
          <a:prstGeom prst="roundRect">
            <a:avLst>
              <a:gd name="adj" fmla="val 38462"/>
            </a:avLst>
          </a:prstGeom>
          <a:solidFill>
            <a:srgbClr val="1A2800"/>
          </a:solidFill>
          <a:ln w="12700">
            <a:solidFill>
              <a:srgbClr val="1A28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37560" y="466344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2C882"/>
                </a:solidFill>
              </a:rPr>
              <a:t>UPSELL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025896" y="2578608"/>
            <a:ext cx="2697480" cy="2359152"/>
          </a:xfrm>
          <a:prstGeom prst="rect">
            <a:avLst/>
          </a:prstGeom>
          <a:solidFill>
            <a:srgbClr val="0D1117"/>
          </a:solidFill>
          <a:ln w="12700">
            <a:solidFill>
              <a:srgbClr val="1E253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025896" y="2578608"/>
            <a:ext cx="54864" cy="2359152"/>
          </a:xfrm>
          <a:prstGeom prst="rect">
            <a:avLst/>
          </a:prstGeom>
          <a:solidFill>
            <a:srgbClr val="8B95A1"/>
          </a:solidFill>
          <a:ln w="12700">
            <a:solidFill>
              <a:srgbClr val="8B95A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90488" y="267919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6711696" y="270662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95A1"/>
                </a:solidFill>
              </a:rPr>
              <a:t>Virtual Pass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190488" y="301752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R$ 749</a:t>
            </a:r>
            <a:endParaRPr lang="en-US" sz="2200" dirty="0"/>
          </a:p>
        </p:txBody>
      </p:sp>
      <p:sp>
        <p:nvSpPr>
          <p:cNvPr id="33" name="Shape 31"/>
          <p:cNvSpPr/>
          <p:nvPr/>
        </p:nvSpPr>
        <p:spPr>
          <a:xfrm>
            <a:off x="6190488" y="3419856"/>
            <a:ext cx="2331720" cy="20117"/>
          </a:xfrm>
          <a:prstGeom prst="rect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90488" y="347472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5A1"/>
                </a:solidFill>
              </a:rPr>
              <a:t>Para quem não pode comparecer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B95A1"/>
                </a:solidFill>
              </a:rPr>
              <a:t>Acesso online ao conteúdo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B95A1"/>
                </a:solidFill>
              </a:rPr>
              <a:t>Captura de quem ficou de fora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190488" y="4663440"/>
            <a:ext cx="1554480" cy="237744"/>
          </a:xfrm>
          <a:prstGeom prst="roundRect">
            <a:avLst>
              <a:gd name="adj" fmla="val 38462"/>
            </a:avLst>
          </a:prstGeom>
          <a:solidFill>
            <a:srgbClr val="1A0000"/>
          </a:solidFill>
          <a:ln w="12700">
            <a:solidFill>
              <a:srgbClr val="1A00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90488" y="466344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B95A1"/>
                </a:solidFill>
              </a:rPr>
              <a:t>DOWNSELL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7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5A059"/>
          </a:solidFill>
          <a:ln w="12700">
            <a:solidFill>
              <a:srgbClr val="C5A05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C5A059"/>
                </a:solidFill>
              </a:rPr>
              <a:t>CÚPULA CEO · ECOSSISTEMA DE OFERTAS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3931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Upsells &amp; Downsells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969264"/>
            <a:ext cx="8412480" cy="292608"/>
          </a:xfrm>
          <a:prstGeom prst="rect">
            <a:avLst/>
          </a:prstGeom>
          <a:solidFill>
            <a:srgbClr val="0A1A00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0584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C55E"/>
                </a:solidFill>
              </a:rPr>
              <a:t>🤖  Bot Júlio vende automaticamente todos os upsells durante o evento e as mentorias / novos eventos no pós-evento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138988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</a:rPr>
              <a:t>⬆  UPSELLS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691640"/>
            <a:ext cx="4023360" cy="603504"/>
          </a:xfrm>
          <a:prstGeom prst="rect">
            <a:avLst/>
          </a:prstGeom>
          <a:solidFill>
            <a:srgbClr val="0D1117"/>
          </a:solidFill>
          <a:ln w="12700">
            <a:solidFill>
              <a:srgbClr val="1E253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691640"/>
            <a:ext cx="54864" cy="60350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728216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VIP Pass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834640" y="172821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2C882"/>
                </a:solidFill>
              </a:rPr>
              <a:t>R$ 998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196596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1"/>
                </a:solidFill>
              </a:rPr>
              <a:t>Quando: Na compra ou no check-in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8640" y="2121408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5A059"/>
                </a:solidFill>
              </a:rPr>
              <a:t>Assentos prioritários + almoço com palestrantes + traslado em lancha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0040" y="2377440"/>
            <a:ext cx="4023360" cy="603504"/>
          </a:xfrm>
          <a:prstGeom prst="rect">
            <a:avLst/>
          </a:prstGeom>
          <a:solidFill>
            <a:srgbClr val="0D1117"/>
          </a:solidFill>
          <a:ln w="12700">
            <a:solidFill>
              <a:srgbClr val="1E253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377440"/>
            <a:ext cx="54864" cy="60350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414016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Cúpula Dinner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834640" y="241401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2C882"/>
                </a:solidFill>
              </a:rPr>
              <a:t>R$ 8.998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265176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1"/>
                </a:solidFill>
              </a:rPr>
              <a:t>Quando: Para Cat-A via Bot Júlio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48640" y="2807208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5A059"/>
                </a:solidFill>
              </a:rPr>
              <a:t>Jantar + rodada de negócios na véspera + diagnóstico / parecer técnico · Limitado a 20 participantes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20040" y="3063240"/>
            <a:ext cx="4023360" cy="603504"/>
          </a:xfrm>
          <a:prstGeom prst="rect">
            <a:avLst/>
          </a:prstGeom>
          <a:solidFill>
            <a:srgbClr val="0D1117"/>
          </a:solidFill>
          <a:ln w="12700">
            <a:solidFill>
              <a:srgbClr val="1E253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3063240"/>
            <a:ext cx="54864" cy="60350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099816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Pacote Sócio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834640" y="309981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2C882"/>
                </a:solidFill>
              </a:rPr>
              <a:t>R$ 749 / sócio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333756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1"/>
                </a:solidFill>
              </a:rPr>
              <a:t>Quando: 2 ou mais sócios juntos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48640" y="3493008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5A059"/>
                </a:solidFill>
              </a:rPr>
              <a:t>Desconto por volume · ingresso conjunto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20040" y="3749040"/>
            <a:ext cx="4023360" cy="603504"/>
          </a:xfrm>
          <a:prstGeom prst="rect">
            <a:avLst/>
          </a:prstGeom>
          <a:solidFill>
            <a:srgbClr val="0D1117"/>
          </a:solidFill>
          <a:ln w="12700">
            <a:solidFill>
              <a:srgbClr val="1E253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" y="3749040"/>
            <a:ext cx="54864" cy="60350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3785616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Diagnóstico Catalyst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834640" y="378561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2C882"/>
                </a:solidFill>
              </a:rPr>
              <a:t>R$ 248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8640" y="402336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1"/>
                </a:solidFill>
              </a:rPr>
              <a:t>Quando: Dor identificada no evento / via Bot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48640" y="4178808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5A059"/>
                </a:solidFill>
              </a:rPr>
              <a:t>Análise via formulário · mapeamento de dor estratégico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709160" y="138988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⬇  DOWNSELLS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709160" y="1691640"/>
            <a:ext cx="4023360" cy="603504"/>
          </a:xfrm>
          <a:prstGeom prst="rect">
            <a:avLst/>
          </a:prstGeom>
          <a:solidFill>
            <a:srgbClr val="0D1117"/>
          </a:solidFill>
          <a:ln w="12700">
            <a:solidFill>
              <a:srgbClr val="1E253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09160" y="1691640"/>
            <a:ext cx="54864" cy="60350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37760" y="1728216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Virtual Pass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132320" y="172821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F4444"/>
                </a:solidFill>
              </a:rPr>
              <a:t>R$ 749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937760" y="196596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1"/>
                </a:solidFill>
              </a:rPr>
              <a:t>Quando: Não pode comparecer presencialmente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937760" y="2121408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EF4444"/>
                </a:solidFill>
              </a:rPr>
              <a:t>Acesso online ao conteúdo do evento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709160" y="2377440"/>
            <a:ext cx="4023360" cy="603504"/>
          </a:xfrm>
          <a:prstGeom prst="rect">
            <a:avLst/>
          </a:prstGeom>
          <a:solidFill>
            <a:srgbClr val="0D1117"/>
          </a:solidFill>
          <a:ln w="12700">
            <a:solidFill>
              <a:srgbClr val="1E253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709160" y="2377440"/>
            <a:ext cx="54864" cy="60350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37760" y="2414016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CEO Toolkit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132320" y="241401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F4444"/>
                </a:solidFill>
              </a:rPr>
              <a:t>R$ 449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937760" y="265176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1"/>
                </a:solidFill>
              </a:rPr>
              <a:t>Quando: Não está pronto para o evento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937760" y="2807208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EF4444"/>
                </a:solidFill>
              </a:rPr>
              <a:t>Material preparatório para a próxima edição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320040" y="4370832"/>
            <a:ext cx="8412480" cy="566928"/>
          </a:xfrm>
          <a:prstGeom prst="rect">
            <a:avLst/>
          </a:prstGeom>
          <a:solidFill>
            <a:srgbClr val="0D1117"/>
          </a:solidFill>
          <a:ln w="12700">
            <a:solidFill>
              <a:srgbClr val="1E253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320040" y="4370832"/>
            <a:ext cx="54864" cy="566928"/>
          </a:xfrm>
          <a:prstGeom prst="rect">
            <a:avLst/>
          </a:prstGeom>
          <a:solidFill>
            <a:srgbClr val="C5A059"/>
          </a:solidFill>
          <a:ln w="12700">
            <a:solidFill>
              <a:srgbClr val="C5A05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4632" y="4434840"/>
            <a:ext cx="8183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C882"/>
                </a:solidFill>
              </a:rPr>
              <a:t>💡  Estratégia de maximização por lead: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84632" y="4663440"/>
            <a:ext cx="8183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5A1"/>
                </a:solidFill>
              </a:rPr>
              <a:t>Ingresso (R$ 1.497) → VIP Pass (R$ 998) → Diagnóstico Catalyst (R$ 248) → Mentoria de alto ticket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7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5A059"/>
          </a:solidFill>
          <a:ln w="12700">
            <a:solidFill>
              <a:srgbClr val="C5A05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C5A059"/>
                </a:solidFill>
              </a:rPr>
              <a:t>ALTO TICKET · INDIVIDUAL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3931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Código da Nova Liderança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8412480" cy="3611880"/>
          </a:xfrm>
          <a:prstGeom prst="rect">
            <a:avLst/>
          </a:prstGeom>
          <a:solidFill>
            <a:srgbClr val="0D1117"/>
          </a:solidFill>
          <a:ln w="12700">
            <a:solidFill>
              <a:srgbClr val="1E253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51560"/>
            <a:ext cx="54864" cy="3611880"/>
          </a:xfrm>
          <a:prstGeom prst="rect">
            <a:avLst/>
          </a:prstGeom>
          <a:solidFill>
            <a:srgbClr val="C5A059"/>
          </a:solidFill>
          <a:ln w="12700">
            <a:solidFill>
              <a:srgbClr val="C5A05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170432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👑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37160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C882"/>
                </a:solidFill>
              </a:rPr>
              <a:t>Mentor: Luiz Portal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71600" y="148132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5A1"/>
                </a:solidFill>
              </a:rPr>
              <a:t>Fundador · Head Comercial e de Produto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0" y="11430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R$ 39.990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5943600" y="166420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8B95A1"/>
                </a:solidFill>
              </a:rPr>
              <a:t>por mentorado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02920" y="1938528"/>
            <a:ext cx="8046720" cy="20117"/>
          </a:xfrm>
          <a:prstGeom prst="rect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05740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C5A059"/>
                </a:solidFill>
              </a:rPr>
              <a:t>FORMATO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4572000" y="20574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C5A059"/>
                </a:solidFill>
              </a:rPr>
              <a:t>LIMITES &amp; ACESSO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548640" y="2313432"/>
            <a:ext cx="100584" cy="100584"/>
          </a:xfrm>
          <a:prstGeom prst="ellipse">
            <a:avLst/>
          </a:prstGeom>
          <a:solidFill>
            <a:srgbClr val="C5A059"/>
          </a:solidFill>
          <a:ln w="12700">
            <a:solidFill>
              <a:srgbClr val="C5A05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22860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Modalidade: Individual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2660904"/>
            <a:ext cx="100584" cy="100584"/>
          </a:xfrm>
          <a:prstGeom prst="ellipse">
            <a:avLst/>
          </a:prstGeom>
          <a:solidFill>
            <a:srgbClr val="C5A059"/>
          </a:solidFill>
          <a:ln w="12700">
            <a:solidFill>
              <a:srgbClr val="C5A05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26334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10 encontros · 1 vez por mês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3008376"/>
            <a:ext cx="100584" cy="100584"/>
          </a:xfrm>
          <a:prstGeom prst="ellipse">
            <a:avLst/>
          </a:prstGeom>
          <a:solidFill>
            <a:srgbClr val="C5A059"/>
          </a:solidFill>
          <a:ln w="12700">
            <a:solidFill>
              <a:srgbClr val="C5A05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298094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Presencial ou online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3355848"/>
            <a:ext cx="100584" cy="100584"/>
          </a:xfrm>
          <a:prstGeom prst="ellipse">
            <a:avLst/>
          </a:prstGeom>
          <a:solidFill>
            <a:srgbClr val="C5A059"/>
          </a:solidFill>
          <a:ln w="12700">
            <a:solidFill>
              <a:srgbClr val="C5A05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33284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Baseado no Método ViDi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3703320"/>
            <a:ext cx="100584" cy="100584"/>
          </a:xfrm>
          <a:prstGeom prst="ellipse">
            <a:avLst/>
          </a:prstGeom>
          <a:solidFill>
            <a:srgbClr val="C5A059"/>
          </a:solidFill>
          <a:ln w="12700">
            <a:solidFill>
              <a:srgbClr val="C5A05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36758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Foco em cultura de alta performance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4050792"/>
            <a:ext cx="100584" cy="100584"/>
          </a:xfrm>
          <a:prstGeom prst="ellipse">
            <a:avLst/>
          </a:prstGeom>
          <a:solidFill>
            <a:srgbClr val="C5A059"/>
          </a:solidFill>
          <a:ln w="12700">
            <a:solidFill>
              <a:srgbClr val="C5A05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40233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Transformação de líderes resilientes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0" y="2313432"/>
            <a:ext cx="100584" cy="100584"/>
          </a:xfrm>
          <a:prstGeom prst="ellipse">
            <a:avLst/>
          </a:prstGeom>
          <a:solidFill>
            <a:srgbClr val="E2C882"/>
          </a:solidFill>
          <a:ln w="12700">
            <a:solidFill>
              <a:srgbClr val="E2C88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22860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Limitado a 10 mentorados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0" y="2660904"/>
            <a:ext cx="100584" cy="100584"/>
          </a:xfrm>
          <a:prstGeom prst="ellipse">
            <a:avLst/>
          </a:prstGeom>
          <a:solidFill>
            <a:srgbClr val="E2C882"/>
          </a:solidFill>
          <a:ln w="12700">
            <a:solidFill>
              <a:srgbClr val="E2C88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26334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Prioridade em todos os eventos ViDi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0" y="3008376"/>
            <a:ext cx="100584" cy="100584"/>
          </a:xfrm>
          <a:prstGeom prst="ellipse">
            <a:avLst/>
          </a:prstGeom>
          <a:solidFill>
            <a:srgbClr val="E2C882"/>
          </a:solidFill>
          <a:ln w="12700">
            <a:solidFill>
              <a:srgbClr val="E2C88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298094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Acesso à rede de CEOs mentorados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0" y="3355848"/>
            <a:ext cx="100584" cy="100584"/>
          </a:xfrm>
          <a:prstGeom prst="ellipse">
            <a:avLst/>
          </a:prstGeom>
          <a:solidFill>
            <a:srgbClr val="E2C882"/>
          </a:solidFill>
          <a:ln w="12700">
            <a:solidFill>
              <a:srgbClr val="E2C88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0" y="33284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Diagnóstico individualizado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0" y="3703320"/>
            <a:ext cx="100584" cy="100584"/>
          </a:xfrm>
          <a:prstGeom prst="ellipse">
            <a:avLst/>
          </a:prstGeom>
          <a:solidFill>
            <a:srgbClr val="E2C882"/>
          </a:solidFill>
          <a:ln w="12700">
            <a:solidFill>
              <a:srgbClr val="E2C88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0" y="36758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Acompanhamento mensal contínuo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02920" y="4096512"/>
            <a:ext cx="8046720" cy="20117"/>
          </a:xfrm>
          <a:prstGeom prst="rect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02920" y="4224528"/>
            <a:ext cx="1737360" cy="237744"/>
          </a:xfrm>
          <a:prstGeom prst="roundRect">
            <a:avLst>
              <a:gd name="adj" fmla="val 38462"/>
            </a:avLst>
          </a:prstGeom>
          <a:solidFill>
            <a:srgbClr val="001A00"/>
          </a:solidFill>
          <a:ln w="12700">
            <a:solidFill>
              <a:srgbClr val="001A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" y="422452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C55E"/>
                </a:solidFill>
              </a:rPr>
              <a:t>✅ ESTRUTURADA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2377440" y="4224528"/>
            <a:ext cx="1554480" cy="237744"/>
          </a:xfrm>
          <a:prstGeom prst="roundRect">
            <a:avLst>
              <a:gd name="adj" fmla="val 38462"/>
            </a:avLst>
          </a:prstGeom>
          <a:solidFill>
            <a:srgbClr val="2A2010"/>
          </a:solidFill>
          <a:ln w="12700">
            <a:solidFill>
              <a:srgbClr val="2A201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377440" y="422452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2C882"/>
                </a:solidFill>
              </a:rPr>
              <a:t>INDIVIDUAL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114800" y="4224528"/>
            <a:ext cx="2286000" cy="237744"/>
          </a:xfrm>
          <a:prstGeom prst="roundRect">
            <a:avLst>
              <a:gd name="adj" fmla="val 38462"/>
            </a:avLst>
          </a:prstGeom>
          <a:solidFill>
            <a:srgbClr val="1A1200"/>
          </a:solidFill>
          <a:ln w="12700">
            <a:solidFill>
              <a:srgbClr val="1A12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114800" y="422452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</a:rPr>
              <a:t>LIMITADO A 10 MENTORADOS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320040" y="4709160"/>
            <a:ext cx="8412480" cy="256032"/>
          </a:xfrm>
          <a:prstGeom prst="rect">
            <a:avLst/>
          </a:prstGeom>
          <a:solidFill>
            <a:srgbClr val="2A2010"/>
          </a:solidFill>
          <a:ln w="12700">
            <a:solidFill>
              <a:srgbClr val="C5A05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2920" y="4736592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C882"/>
                </a:solidFill>
              </a:rPr>
              <a:t>⭐  Prioridade nos eventos e acesso exclusivo à rede de mentorados de alto nível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07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5A059"/>
          </a:solidFill>
          <a:ln w="12700">
            <a:solidFill>
              <a:srgbClr val="C5A05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C5A059"/>
                </a:solidFill>
              </a:rPr>
              <a:t>ALTO TICKET · GRUPO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3931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Mentoria em Grupo ViDi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8412480" cy="3611880"/>
          </a:xfrm>
          <a:prstGeom prst="rect">
            <a:avLst/>
          </a:prstGeom>
          <a:solidFill>
            <a:srgbClr val="0D1117"/>
          </a:solidFill>
          <a:ln w="12700">
            <a:solidFill>
              <a:srgbClr val="1E253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51560"/>
            <a:ext cx="54864" cy="3611880"/>
          </a:xfrm>
          <a:prstGeom prst="rect">
            <a:avLst/>
          </a:prstGeom>
          <a:solidFill>
            <a:srgbClr val="E2C882"/>
          </a:solidFill>
          <a:ln w="12700">
            <a:solidFill>
              <a:srgbClr val="E2C8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170432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👥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371600" y="1188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C882"/>
                </a:solidFill>
              </a:rPr>
              <a:t>Mentoria coletiva de alto impacto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71600" y="14813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5A1"/>
                </a:solidFill>
              </a:rPr>
              <a:t>Luiz Portal &amp; Ibrahim Boufleur · Presencial ou Online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669280" y="11887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8B95A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confirmar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669280" y="160020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B95A1"/>
                </a:solidFill>
              </a:rPr>
              <a:t>preço a definir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02920" y="1920240"/>
            <a:ext cx="8046720" cy="20117"/>
          </a:xfrm>
          <a:prstGeom prst="rect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05740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C5A059"/>
                </a:solidFill>
              </a:rPr>
              <a:t>ESTRUTURA DOS 12 ENCONTROS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548640" y="2377440"/>
            <a:ext cx="329184" cy="329184"/>
          </a:xfrm>
          <a:prstGeom prst="ellipse">
            <a:avLst/>
          </a:prstGeom>
          <a:solidFill>
            <a:srgbClr val="E2C882"/>
          </a:solidFill>
          <a:ln w="12700">
            <a:solidFill>
              <a:srgbClr val="E2C8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359152"/>
            <a:ext cx="329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</a:rPr>
              <a:t>1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05840" y="234086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1º Encontro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05840" y="2560320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5A1"/>
                </a:solidFill>
              </a:rPr>
              <a:t>Individual · Diagnóstico e alinhamento de metas pessoais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94944" y="2724912"/>
            <a:ext cx="18288" cy="310896"/>
          </a:xfrm>
          <a:prstGeom prst="rect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2971800"/>
            <a:ext cx="329184" cy="329184"/>
          </a:xfrm>
          <a:prstGeom prst="ellipse">
            <a:avLst/>
          </a:prstGeom>
          <a:solidFill>
            <a:srgbClr val="C5A059"/>
          </a:solidFill>
          <a:ln w="12700">
            <a:solidFill>
              <a:srgbClr val="C5A05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2953512"/>
            <a:ext cx="329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</a:rPr>
              <a:t>2–11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05840" y="293522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10 Encontros Centrais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05840" y="3154680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5A1"/>
                </a:solidFill>
              </a:rPr>
              <a:t>Em grupo · Online ou presencial · Conteúdo aplicado e trocas entre pares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94944" y="3319272"/>
            <a:ext cx="18288" cy="310896"/>
          </a:xfrm>
          <a:prstGeom prst="rect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3566160"/>
            <a:ext cx="329184" cy="329184"/>
          </a:xfrm>
          <a:prstGeom prst="ellipse">
            <a:avLst/>
          </a:prstGeom>
          <a:solidFill>
            <a:srgbClr val="E2C882"/>
          </a:solidFill>
          <a:ln w="12700">
            <a:solidFill>
              <a:srgbClr val="E2C88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3547872"/>
            <a:ext cx="329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</a:rPr>
              <a:t>12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05840" y="352958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12º Encontro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05840" y="3749040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5A1"/>
                </a:solidFill>
              </a:rPr>
              <a:t>Individual · Revisão de resultados e plano de continuidade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02920" y="4105656"/>
            <a:ext cx="8046720" cy="20117"/>
          </a:xfrm>
          <a:prstGeom prst="rect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02920" y="4224528"/>
            <a:ext cx="1554480" cy="237744"/>
          </a:xfrm>
          <a:prstGeom prst="roundRect">
            <a:avLst>
              <a:gd name="adj" fmla="val 38462"/>
            </a:avLst>
          </a:prstGeom>
          <a:solidFill>
            <a:srgbClr val="2A2010"/>
          </a:solidFill>
          <a:ln w="12700">
            <a:solidFill>
              <a:srgbClr val="2A201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422452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2C882"/>
                </a:solidFill>
              </a:rPr>
              <a:t>GRUPO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194560" y="4224528"/>
            <a:ext cx="2011680" cy="237744"/>
          </a:xfrm>
          <a:prstGeom prst="roundRect">
            <a:avLst>
              <a:gd name="adj" fmla="val 38462"/>
            </a:avLst>
          </a:prstGeom>
          <a:solidFill>
            <a:srgbClr val="1A1200"/>
          </a:solidFill>
          <a:ln w="12700">
            <a:solidFill>
              <a:srgbClr val="1A12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194560" y="422452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</a:rPr>
              <a:t>LIMITADO A 10 PESSOAS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343400" y="4224528"/>
            <a:ext cx="2103120" cy="237744"/>
          </a:xfrm>
          <a:prstGeom prst="roundRect">
            <a:avLst>
              <a:gd name="adj" fmla="val 38462"/>
            </a:avLst>
          </a:prstGeom>
          <a:solidFill>
            <a:srgbClr val="001A00"/>
          </a:solidFill>
          <a:ln w="12700">
            <a:solidFill>
              <a:srgbClr val="001A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43400" y="422452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C55E"/>
                </a:solidFill>
              </a:rPr>
              <a:t>PRIORIDADE NOS EVENTOS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20040" y="4709160"/>
            <a:ext cx="8412480" cy="256032"/>
          </a:xfrm>
          <a:prstGeom prst="rect">
            <a:avLst/>
          </a:prstGeom>
          <a:solidFill>
            <a:srgbClr val="2A2010"/>
          </a:solidFill>
          <a:ln w="12700">
            <a:solidFill>
              <a:srgbClr val="C5A05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" y="4736592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C882"/>
                </a:solidFill>
              </a:rPr>
              <a:t>⭐  Prioridade em todos os eventos ViDi · Acesso à comunidade de líderes mentorados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07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5A059"/>
          </a:solidFill>
          <a:ln w="12700">
            <a:solidFill>
              <a:srgbClr val="C5A05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C5A059"/>
                </a:solidFill>
              </a:rPr>
              <a:t>ALTO TICKET · INDIVIDUAL · IBRAHIM BOUFLEUR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3931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Mentoria CEO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8412480" cy="3611880"/>
          </a:xfrm>
          <a:prstGeom prst="rect">
            <a:avLst/>
          </a:prstGeom>
          <a:solidFill>
            <a:srgbClr val="0D1117"/>
          </a:solidFill>
          <a:ln w="12700">
            <a:solidFill>
              <a:srgbClr val="1E253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51560"/>
            <a:ext cx="54864" cy="3611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170432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🎙️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371600" y="11887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C882"/>
                </a:solidFill>
              </a:rPr>
              <a:t>Mentor: Ibrahim Boufleur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71600" y="148132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5A1"/>
                </a:solidFill>
              </a:rPr>
              <a:t>Fundador · Mentor estratégico de CEOs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0" y="11430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R$ 59.998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5486400" y="166420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8B95A1"/>
                </a:solidFill>
              </a:rPr>
              <a:t>por mentorado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02920" y="1938528"/>
            <a:ext cx="8046720" cy="20117"/>
          </a:xfrm>
          <a:prstGeom prst="rect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05740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C5A059"/>
                </a:solidFill>
              </a:rPr>
              <a:t>FORMATO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4572000" y="20574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C5A059"/>
                </a:solidFill>
              </a:rPr>
              <a:t>TEMAS &amp; ACESSO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548640" y="2313432"/>
            <a:ext cx="100584" cy="1005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22860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Modalidade: Individual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2679192"/>
            <a:ext cx="100584" cy="1005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26517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10 encontros mensais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3044952"/>
            <a:ext cx="100584" cy="1005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30175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Presencial ou online com Ibrahim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3410712"/>
            <a:ext cx="100584" cy="1005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33832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The Catalyst — programa de elite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3776472"/>
            <a:ext cx="100584" cy="1005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37490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Aprofundamento estruturado por módulos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0" y="2313432"/>
            <a:ext cx="100584" cy="100584"/>
          </a:xfrm>
          <a:prstGeom prst="ellipse">
            <a:avLst/>
          </a:prstGeom>
          <a:solidFill>
            <a:srgbClr val="E2C882"/>
          </a:solidFill>
          <a:ln w="12700">
            <a:solidFill>
              <a:srgbClr val="E2C88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22860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Governança corporativa e sucessão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0" y="2679192"/>
            <a:ext cx="100584" cy="100584"/>
          </a:xfrm>
          <a:prstGeom prst="ellipse">
            <a:avLst/>
          </a:prstGeom>
          <a:solidFill>
            <a:srgbClr val="E2C882"/>
          </a:solidFill>
          <a:ln w="12700">
            <a:solidFill>
              <a:srgbClr val="E2C88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26517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Marketing estratégico e posicionamento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0" y="3044952"/>
            <a:ext cx="100584" cy="100584"/>
          </a:xfrm>
          <a:prstGeom prst="ellipse">
            <a:avLst/>
          </a:prstGeom>
          <a:solidFill>
            <a:srgbClr val="E2C882"/>
          </a:solidFill>
          <a:ln w="12700">
            <a:solidFill>
              <a:srgbClr val="E2C88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30175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M&amp;A, captação e exit strategy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0" y="3410712"/>
            <a:ext cx="100584" cy="100584"/>
          </a:xfrm>
          <a:prstGeom prst="ellipse">
            <a:avLst/>
          </a:prstGeom>
          <a:solidFill>
            <a:srgbClr val="E2C882"/>
          </a:solidFill>
          <a:ln w="12700">
            <a:solidFill>
              <a:srgbClr val="E2C88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33832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Estruturação financeira e internacionalização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0" y="3776472"/>
            <a:ext cx="100584" cy="100584"/>
          </a:xfrm>
          <a:prstGeom prst="ellipse">
            <a:avLst/>
          </a:prstGeom>
          <a:solidFill>
            <a:srgbClr val="E2C882"/>
          </a:solidFill>
          <a:ln w="12700">
            <a:solidFill>
              <a:srgbClr val="E2C88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0" y="37490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Acesso mais exclusivo para mentorados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02920" y="4114800"/>
            <a:ext cx="8046720" cy="20117"/>
          </a:xfrm>
          <a:prstGeom prst="rect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02920" y="4224528"/>
            <a:ext cx="1737360" cy="237744"/>
          </a:xfrm>
          <a:prstGeom prst="roundRect">
            <a:avLst>
              <a:gd name="adj" fmla="val 38462"/>
            </a:avLst>
          </a:prstGeom>
          <a:solidFill>
            <a:srgbClr val="1A1200"/>
          </a:solidFill>
          <a:ln w="12700">
            <a:solidFill>
              <a:srgbClr val="1A12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422452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</a:rPr>
              <a:t>⚠ EM DEFINIÇÃO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2377440" y="4224528"/>
            <a:ext cx="1554480" cy="237744"/>
          </a:xfrm>
          <a:prstGeom prst="roundRect">
            <a:avLst>
              <a:gd name="adj" fmla="val 38462"/>
            </a:avLst>
          </a:prstGeom>
          <a:solidFill>
            <a:srgbClr val="2A2010"/>
          </a:solidFill>
          <a:ln w="12700">
            <a:solidFill>
              <a:srgbClr val="2A201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377440" y="422452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2C882"/>
                </a:solidFill>
              </a:rPr>
              <a:t>INDIVIDUAL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114800" y="4224528"/>
            <a:ext cx="2103120" cy="237744"/>
          </a:xfrm>
          <a:prstGeom prst="roundRect">
            <a:avLst>
              <a:gd name="adj" fmla="val 38462"/>
            </a:avLst>
          </a:prstGeom>
          <a:solidFill>
            <a:srgbClr val="001A00"/>
          </a:solidFill>
          <a:ln w="12700">
            <a:solidFill>
              <a:srgbClr val="001A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114800" y="422452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C55E"/>
                </a:solidFill>
              </a:rPr>
              <a:t>PRIORIDADE NOS EVENTOS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320040" y="4709160"/>
            <a:ext cx="8412480" cy="256032"/>
          </a:xfrm>
          <a:prstGeom prst="rect">
            <a:avLst/>
          </a:prstGeom>
          <a:solidFill>
            <a:srgbClr val="1A120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2920" y="4736592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</a:rPr>
              <a:t>⚖  Luiz e Ibrahim têm contribuições equivalentes. A consultoria pode envolver os dois conforme a natureza do projeto.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507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5A059"/>
          </a:solidFill>
          <a:ln w="12700">
            <a:solidFill>
              <a:srgbClr val="C5A05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C5A059"/>
                </a:solidFill>
              </a:rPr>
              <a:t>SERVIÇOS PRESENCIAIS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3931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Consultoria, Formações e Imersões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8412480" cy="1078992"/>
          </a:xfrm>
          <a:prstGeom prst="rect">
            <a:avLst/>
          </a:prstGeom>
          <a:solidFill>
            <a:srgbClr val="0D1117"/>
          </a:solidFill>
          <a:ln w="12700">
            <a:solidFill>
              <a:srgbClr val="1E253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05840"/>
            <a:ext cx="54864" cy="1078992"/>
          </a:xfrm>
          <a:prstGeom prst="rect">
            <a:avLst/>
          </a:prstGeom>
          <a:solidFill>
            <a:srgbClr val="C5A059"/>
          </a:solidFill>
          <a:ln w="12700">
            <a:solidFill>
              <a:srgbClr val="C5A05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09728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🔬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234440" y="10972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2C882"/>
                </a:solidFill>
              </a:rPr>
              <a:t>Consultoria ViDi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234440" y="1444752"/>
            <a:ext cx="1554480" cy="237744"/>
          </a:xfrm>
          <a:prstGeom prst="roundRect">
            <a:avLst>
              <a:gd name="adj" fmla="val 38462"/>
            </a:avLst>
          </a:prstGeom>
          <a:solidFill>
            <a:srgbClr val="2A2010"/>
          </a:solidFill>
          <a:ln w="12700">
            <a:solidFill>
              <a:srgbClr val="2A201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34440" y="1444752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2C882"/>
                </a:solidFill>
              </a:rPr>
              <a:t>ALTO TICKET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846320" y="1051560"/>
            <a:ext cx="3657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5A1"/>
                </a:solidFill>
              </a:rPr>
              <a:t>A ViDi não vende método — vende ferramental e resultado. Diagnóstico real + entrega do que precisa ser feito, sem meios-termos. Envolve Luiz e Ibrahim conforme a natureza do projeto.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" y="2240280"/>
            <a:ext cx="4023360" cy="1261872"/>
          </a:xfrm>
          <a:prstGeom prst="rect">
            <a:avLst/>
          </a:prstGeom>
          <a:solidFill>
            <a:srgbClr val="0D1117"/>
          </a:solidFill>
          <a:ln w="12700">
            <a:solidFill>
              <a:srgbClr val="1E253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240280"/>
            <a:ext cx="54864" cy="1261872"/>
          </a:xfrm>
          <a:prstGeom prst="rect">
            <a:avLst/>
          </a:prstGeom>
          <a:solidFill>
            <a:srgbClr val="E2C882"/>
          </a:solidFill>
          <a:ln w="12700">
            <a:solidFill>
              <a:srgbClr val="E2C8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" y="23317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🎓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33272" y="23317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C882"/>
                </a:solidFill>
              </a:rPr>
              <a:t>Formações Presenciais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033272" y="2633472"/>
            <a:ext cx="1554480" cy="237744"/>
          </a:xfrm>
          <a:prstGeom prst="roundRect">
            <a:avLst>
              <a:gd name="adj" fmla="val 38462"/>
            </a:avLst>
          </a:prstGeom>
          <a:solidFill>
            <a:srgbClr val="2A2010"/>
          </a:solidFill>
          <a:ln w="12700">
            <a:solidFill>
              <a:srgbClr val="2A201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33272" y="2633472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2C882"/>
                </a:solidFill>
              </a:rPr>
              <a:t>Alto Ticket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84632" y="2935224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5A1"/>
                </a:solidFill>
              </a:rPr>
              <a:t>Formação de Líderes · Formação de CEOs · Oficinas Técnicas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B95A1"/>
                </a:solidFill>
              </a:rPr>
              <a:t>Participante sai com ações claras e resultado direto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0" y="2240280"/>
            <a:ext cx="4023360" cy="1261872"/>
          </a:xfrm>
          <a:prstGeom prst="rect">
            <a:avLst/>
          </a:prstGeom>
          <a:solidFill>
            <a:srgbClr val="0D1117"/>
          </a:solidFill>
          <a:ln w="12700">
            <a:solidFill>
              <a:srgbClr val="1E253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0" y="2240280"/>
            <a:ext cx="54864" cy="1261872"/>
          </a:xfrm>
          <a:prstGeom prst="rect">
            <a:avLst/>
          </a:prstGeom>
          <a:solidFill>
            <a:srgbClr val="E2C882"/>
          </a:solidFill>
          <a:ln w="12700">
            <a:solidFill>
              <a:srgbClr val="E2C88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36592" y="23317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🌊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285232" y="23317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C882"/>
                </a:solidFill>
              </a:rPr>
              <a:t>Imersões Estruturadas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285232" y="2633472"/>
            <a:ext cx="1554480" cy="237744"/>
          </a:xfrm>
          <a:prstGeom prst="roundRect">
            <a:avLst>
              <a:gd name="adj" fmla="val 38462"/>
            </a:avLst>
          </a:prstGeom>
          <a:solidFill>
            <a:srgbClr val="2A2010"/>
          </a:solidFill>
          <a:ln w="12700">
            <a:solidFill>
              <a:srgbClr val="2A201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85232" y="2633472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2C882"/>
                </a:solidFill>
              </a:rPr>
              <a:t>Alto Ticket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736592" y="2935224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5A1"/>
                </a:solidFill>
              </a:rPr>
              <a:t>Jornada intensiva de 1 a 3 dias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B95A1"/>
                </a:solidFill>
              </a:rPr>
              <a:t>Clareza de problemas, prioridades e próximos passos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0040" y="3657600"/>
            <a:ext cx="4023360" cy="1261872"/>
          </a:xfrm>
          <a:prstGeom prst="rect">
            <a:avLst/>
          </a:prstGeom>
          <a:solidFill>
            <a:srgbClr val="0D1117"/>
          </a:solidFill>
          <a:ln w="12700">
            <a:solidFill>
              <a:srgbClr val="1E253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" y="3657600"/>
            <a:ext cx="54864" cy="1261872"/>
          </a:xfrm>
          <a:prstGeom prst="rect">
            <a:avLst/>
          </a:prstGeom>
          <a:solidFill>
            <a:srgbClr val="00E5CC"/>
          </a:solidFill>
          <a:ln w="12700">
            <a:solidFill>
              <a:srgbClr val="00E5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" y="37490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🍽️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1033272" y="37490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C882"/>
                </a:solidFill>
              </a:rPr>
              <a:t>Almoço com o CEO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033272" y="4050792"/>
            <a:ext cx="1554480" cy="237744"/>
          </a:xfrm>
          <a:prstGeom prst="roundRect">
            <a:avLst>
              <a:gd name="adj" fmla="val 38462"/>
            </a:avLst>
          </a:prstGeom>
          <a:solidFill>
            <a:srgbClr val="001A1A"/>
          </a:solidFill>
          <a:ln w="12700">
            <a:solidFill>
              <a:srgbClr val="001A1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33272" y="4050792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CC"/>
                </a:solidFill>
              </a:rPr>
              <a:t>Cat-A / Entrada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84632" y="4352544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5A1"/>
                </a:solidFill>
              </a:rPr>
              <a:t>Para Cat-A e mentorados de alto engajamento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B95A1"/>
                </a:solidFill>
              </a:rPr>
              <a:t>Canal de entrada para novos participantes da Cúpula CEO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572000" y="3657600"/>
            <a:ext cx="4023360" cy="1261872"/>
          </a:xfrm>
          <a:prstGeom prst="rect">
            <a:avLst/>
          </a:prstGeom>
          <a:solidFill>
            <a:srgbClr val="0D1117"/>
          </a:solidFill>
          <a:ln w="12700">
            <a:solidFill>
              <a:srgbClr val="1E253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572000" y="3657600"/>
            <a:ext cx="54864" cy="12618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36592" y="37490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5285232" y="37490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C882"/>
                </a:solidFill>
              </a:rPr>
              <a:t>Diagnóstico Catalyst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285232" y="4050792"/>
            <a:ext cx="1554480" cy="237744"/>
          </a:xfrm>
          <a:prstGeom prst="roundRect">
            <a:avLst>
              <a:gd name="adj" fmla="val 38462"/>
            </a:avLst>
          </a:prstGeom>
          <a:solidFill>
            <a:srgbClr val="1A1000"/>
          </a:solidFill>
          <a:ln w="12700">
            <a:solidFill>
              <a:srgbClr val="1A10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85232" y="4050792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</a:rPr>
              <a:t>R$ 248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736592" y="4352544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5A1"/>
                </a:solidFill>
              </a:rPr>
              <a:t>Análise via formulário · mapeamento de dor estratégico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B95A1"/>
                </a:solidFill>
              </a:rPr>
              <a:t>Usado como upsell no evento e em reuniões comerciais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507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5A059"/>
          </a:solidFill>
          <a:ln w="12700">
            <a:solidFill>
              <a:srgbClr val="C5A05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C5A059"/>
                </a:solidFill>
              </a:rPr>
              <a:t>PROCESSO COMERCIAL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3931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Jornada do Cliente — Do Lead ao Alto Ticket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2011680" cy="3310128"/>
          </a:xfrm>
          <a:prstGeom prst="rect">
            <a:avLst/>
          </a:prstGeom>
          <a:solidFill>
            <a:srgbClr val="0D1117"/>
          </a:solidFill>
          <a:ln w="12700">
            <a:solidFill>
              <a:srgbClr val="1E253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97280"/>
            <a:ext cx="2011680" cy="54864"/>
          </a:xfrm>
          <a:prstGeom prst="rect">
            <a:avLst/>
          </a:prstGeom>
          <a:solidFill>
            <a:srgbClr val="8B95A1"/>
          </a:solidFill>
          <a:ln w="12700">
            <a:solidFill>
              <a:srgbClr val="8B95A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252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📣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29768" y="178308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8B95A1"/>
                </a:solidFill>
              </a:rPr>
              <a:t>TOPO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29768" y="198424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Atração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29768" y="2331720"/>
            <a:ext cx="1691640" cy="20117"/>
          </a:xfrm>
          <a:prstGeom prst="rect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" y="242316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1"/>
                </a:solidFill>
              </a:rPr>
              <a:t>Google Ads · Meta Ads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5A1"/>
                </a:solidFill>
              </a:rPr>
              <a:t>Lives de Aquecimento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5A1"/>
                </a:solidFill>
              </a:rPr>
              <a:t>Almoço com o CEO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5A1"/>
                </a:solidFill>
              </a:rPr>
              <a:t>Indicações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350008" y="228600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5A059"/>
                </a:solidFill>
              </a:rPr>
              <a:t>›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2496312" y="1097280"/>
            <a:ext cx="2011680" cy="3310128"/>
          </a:xfrm>
          <a:prstGeom prst="rect">
            <a:avLst/>
          </a:prstGeom>
          <a:solidFill>
            <a:srgbClr val="0D1117"/>
          </a:solidFill>
          <a:ln w="12700">
            <a:solidFill>
              <a:srgbClr val="1E253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96312" y="1097280"/>
            <a:ext cx="2011680" cy="54864"/>
          </a:xfrm>
          <a:prstGeom prst="rect">
            <a:avLst/>
          </a:prstGeom>
          <a:solidFill>
            <a:srgbClr val="C5A059"/>
          </a:solidFill>
          <a:ln w="12700">
            <a:solidFill>
              <a:srgbClr val="C5A05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87752" y="12252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🤖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2606040" y="178308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C5A059"/>
                </a:solidFill>
              </a:rPr>
              <a:t>MEIO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2606040" y="198424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Qualificação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606040" y="2331720"/>
            <a:ext cx="1691640" cy="20117"/>
          </a:xfrm>
          <a:prstGeom prst="rect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06040" y="242316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1"/>
                </a:solidFill>
              </a:rPr>
              <a:t>Formulário página de vendas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5A1"/>
                </a:solidFill>
              </a:rPr>
              <a:t>Bot Júlio (WhatsApp)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5A1"/>
                </a:solidFill>
              </a:rPr>
              <a:t>Classifica Cat-A / B / C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26280" y="228600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5A059"/>
                </a:solidFill>
              </a:rPr>
              <a:t>›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4672584" y="1097280"/>
            <a:ext cx="2011680" cy="3310128"/>
          </a:xfrm>
          <a:prstGeom prst="rect">
            <a:avLst/>
          </a:prstGeom>
          <a:solidFill>
            <a:srgbClr val="0D1117"/>
          </a:solidFill>
          <a:ln w="12700">
            <a:solidFill>
              <a:srgbClr val="1E253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72584" y="1097280"/>
            <a:ext cx="2011680" cy="54864"/>
          </a:xfrm>
          <a:prstGeom prst="rect">
            <a:avLst/>
          </a:prstGeom>
          <a:solidFill>
            <a:srgbClr val="E2C882"/>
          </a:solidFill>
          <a:ln w="12700">
            <a:solidFill>
              <a:srgbClr val="E2C88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64024" y="12252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📞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4782312" y="178308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E2C882"/>
                </a:solidFill>
              </a:rPr>
              <a:t>FUNDO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782312" y="198424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Call Comercial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782312" y="2331720"/>
            <a:ext cx="1691640" cy="20117"/>
          </a:xfrm>
          <a:prstGeom prst="rect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82312" y="242316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1"/>
                </a:solidFill>
              </a:rPr>
              <a:t>Consultor conduz a call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5A1"/>
                </a:solidFill>
              </a:rPr>
              <a:t>Identifica dor e fit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5A1"/>
                </a:solidFill>
              </a:rPr>
              <a:t>Apresenta produto certo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702552" y="228600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5A059"/>
                </a:solidFill>
              </a:rPr>
              <a:t>›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6848856" y="1097280"/>
            <a:ext cx="2011680" cy="3310128"/>
          </a:xfrm>
          <a:prstGeom prst="rect">
            <a:avLst/>
          </a:prstGeom>
          <a:solidFill>
            <a:srgbClr val="0D1117"/>
          </a:solidFill>
          <a:ln w="12700">
            <a:solidFill>
              <a:srgbClr val="1E253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848856" y="1097280"/>
            <a:ext cx="201168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40296" y="12252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🏆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6958584" y="178308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22C55E"/>
                </a:solidFill>
              </a:rPr>
              <a:t>FECHAMENTO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6958584" y="198424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Alto Ticket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958584" y="2331720"/>
            <a:ext cx="1691640" cy="20117"/>
          </a:xfrm>
          <a:prstGeom prst="rect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58584" y="242316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1"/>
                </a:solidFill>
              </a:rPr>
              <a:t>Mentoria · Consultoria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5A1"/>
                </a:solidFill>
              </a:rPr>
              <a:t>Formações · Imersões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5A1"/>
                </a:solidFill>
              </a:rPr>
              <a:t>LTV do cliente ViDi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20040" y="4572000"/>
            <a:ext cx="8412480" cy="347472"/>
          </a:xfrm>
          <a:prstGeom prst="rect">
            <a:avLst/>
          </a:prstGeom>
          <a:solidFill>
            <a:srgbClr val="0D1117"/>
          </a:solidFill>
          <a:ln w="12700">
            <a:solidFill>
              <a:srgbClr val="1E253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20040" y="4572000"/>
            <a:ext cx="54864" cy="34747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" y="462686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</a:rPr>
              <a:t>🔑  Cat-A: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508760" y="4626864"/>
            <a:ext cx="7040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5A1"/>
                </a:solidFill>
              </a:rPr>
              <a:t>Faturamento acima de R$1M, sem plano de sucessão, exausto ou em plateau — acionar alerta humano imediatamente (Luiz Portal ou consultor comercial).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507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5A059"/>
          </a:solidFill>
          <a:ln w="12700">
            <a:solidFill>
              <a:srgbClr val="C5A05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C5A059"/>
                </a:solidFill>
              </a:rPr>
              <a:t>USO INTERNO · CONFIDENCIAL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393192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Resumo de Preços</a:t>
            </a:r>
            <a:endParaRPr lang="en-US" sz="2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417320"/>
          <a:ext cx="841248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1554480"/>
                <a:gridCol w="1371600"/>
                <a:gridCol w="3017520"/>
              </a:tblGrid>
              <a:tr h="2423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2C882"/>
                          </a:solidFill>
                        </a:rPr>
                        <a:t>Produto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2C882"/>
                          </a:solidFill>
                        </a:rPr>
                        <a:t>Categoria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2C882"/>
                          </a:solidFill>
                        </a:rPr>
                        <a:t>Preço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2C882"/>
                          </a:solidFill>
                        </a:rPr>
                        <a:t>Canal de Venda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Formação do Líder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Digital / Online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R$ 698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Time Comercial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Formação do CEO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Digital / Online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R$ 698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Time Comercial · Resgate de leads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Cúpula CEO — Ingresso Standard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Evento Presencial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R$ 1.497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Google Ads · Meta Ads · Lives · Indicações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VIP Pass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Upsell Evento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R$ 998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Bot Júlio · no check-in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Cúpula Dinner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Upsell Evento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R$ 8.998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Bot Júlio · Cat-A · Lim. 20 pessoas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Pacote Sócio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Upsell Evento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R$ 749 / sócio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Bot Júlio · 2+ sócios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Diagnóstico Catalyst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Médio Ticket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R$ 248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Bot Júlio · Upsell evento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Virtual Pass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Downsell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R$ 749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Quem não pode comparecer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CEO Toolkit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Downsell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R$ 449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Quem não está pronto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O Código da Nova Liderança (Luiz)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Mentoria Individual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R$ 39.990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Time Comercial · Lim. 10 mentorados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Mentoria em Grupo ViDi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Mentoria Grupo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A confirmar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Time Comercial · Lim. 10 pessoas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Mentoria CEO (Ibrahim)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Mentoria Individual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R$ 59.998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Via Luiz Portal · Time Comercial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Consultoria ViDi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Consultoria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A confirmar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Time Comercial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Formações / Imersões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Presencial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A confirmar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Time Comercial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507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5A059"/>
          </a:solidFill>
          <a:ln w="12700">
            <a:solidFill>
              <a:srgbClr val="C5A05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5A059"/>
          </a:solidFill>
          <a:ln w="12700">
            <a:solidFill>
              <a:srgbClr val="C5A05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" y="1280160"/>
            <a:ext cx="9034272" cy="2560320"/>
          </a:xfrm>
          <a:prstGeom prst="rect">
            <a:avLst/>
          </a:prstGeom>
          <a:solidFill>
            <a:srgbClr val="0A0C1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17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C5A059"/>
                </a:solidFill>
              </a:rPr>
              <a:t>ViDi / Ecossistema Live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Ferramental.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457200" y="24231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E2C8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Resultado.</a:t>
            </a:r>
            <a:endParaRPr lang="en-US" sz="4200" dirty="0"/>
          </a:p>
        </p:txBody>
      </p:sp>
      <p:sp>
        <p:nvSpPr>
          <p:cNvPr id="8" name="Shape 6"/>
          <p:cNvSpPr/>
          <p:nvPr/>
        </p:nvSpPr>
        <p:spPr>
          <a:xfrm>
            <a:off x="3200400" y="3246120"/>
            <a:ext cx="2743200" cy="22860"/>
          </a:xfrm>
          <a:prstGeom prst="rect">
            <a:avLst/>
          </a:prstGeom>
          <a:solidFill>
            <a:srgbClr val="C5A059"/>
          </a:solidFill>
          <a:ln w="12700">
            <a:solidFill>
              <a:srgbClr val="C5A05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5204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5A1"/>
                </a:solidFill>
              </a:rPr>
              <a:t>contato@vidiceo.com.br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0F14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5A1"/>
                </a:solidFill>
              </a:rPr>
              <a:t>Documento Confidencial — Uso Interno ViDi / Ecossistema Live — Não distribua externamente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Portfólio de Produtos ViDi</dc:title>
  <dc:subject>PptxGenJS Presentation</dc:subject>
  <dc:creator>Cléber Donato — Ecossistema Live</dc:creator>
  <cp:lastModifiedBy>Cléber Donato — Ecossistema Live</cp:lastModifiedBy>
  <cp:revision>1</cp:revision>
  <dcterms:created xsi:type="dcterms:W3CDTF">2026-04-03T03:02:12Z</dcterms:created>
  <dcterms:modified xsi:type="dcterms:W3CDTF">2026-04-03T03:02:12Z</dcterms:modified>
</cp:coreProperties>
</file>